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AQI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Classe 2 (Moyen) – 62%</c:v>
                </c:pt>
                <c:pt idx="1">
                  <c:v>Classe 3 (Dégradé) – 34%</c:v>
                </c:pt>
                <c:pt idx="2">
                  <c:v>Classe 1 (Bon) – 4%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622</c:v>
                </c:pt>
                <c:pt idx="1">
                  <c:v>335</c:v>
                </c:pt>
                <c:pt idx="2">
                  <c:v>39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R² par modèle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0.79</c:v>
                </c:pt>
                <c:pt idx="1">
                  <c:v>0.893</c:v>
                </c:pt>
                <c:pt idx="2">
                  <c:v>0.955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Accuracy</c:v>
                  </c:pt>
                  <c:pt idx="1">
                    <c:v>F1-Score (weighted)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99.5</c:v>
                </c:pt>
                <c:pt idx="1">
                  <c:v>99.5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1C9AB5">
              <a:alpha val="20000"/>
            </a:srgbClr>
          </a:solidFill>
          <a:ln w="12700">
            <a:solidFill>
              <a:srgbClr val="1C9AB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C9AB5">
              <a:alpha val="20000"/>
            </a:srgbClr>
          </a:solidFill>
          <a:ln w="12700">
            <a:solidFill>
              <a:srgbClr val="1C9AB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5720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1C9AB5">
              <a:alpha val="80000"/>
            </a:srgbClr>
          </a:solidFill>
          <a:ln w="12700">
            <a:solidFill>
              <a:srgbClr val="1C9AB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Master BDSI · Big Data Analytics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Prediction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Moroccan Cities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Federated Learning · Real-World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2286000" cy="36576"/>
          </a:xfrm>
          <a:prstGeom prst="rect">
            <a:avLst/>
          </a:prstGeom>
          <a:solidFill>
            <a:srgbClr val="1C9AB5"/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40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Sidi Mohamed Ben Abdellah – FSDM Fès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Supervisé par : Pr. H. Satori   |   Avril - Mai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1097280"/>
            <a:ext cx="2011680" cy="82296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9AB5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115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996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9AB5"/>
                </a:solidFill>
              </a:rPr>
              <a:t>Enregistrements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2194560"/>
            <a:ext cx="2011680" cy="82296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9AB5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212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9AB5"/>
                </a:solidFill>
              </a:rPr>
              <a:t>Villes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3291840"/>
            <a:ext cx="2011680" cy="82296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9AB5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310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14j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9AB5"/>
                </a:solidFill>
              </a:rPr>
              <a:t>Collecte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0424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Objectifs du projet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89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Contexte, technologies et livrables attendus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11680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04825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Collecte des données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395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OpenWeatherMap API · 6 villes · 14 jours · collector.py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175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0540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Préparation des données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4015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Nettoyage, encodage, normalisation · data_preparation.py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023360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233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0599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Modèles ML – Régression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4074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Linear Regression, Random Forest, Decision Tree → R²=0.955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0058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005840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0058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10424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Modèles ML – Classification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389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Random Forest Classifier → Accuracy 99.5%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01168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011680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0116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204825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Apprentissage fédéré (BONUS)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2395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FedAvg · 6 clients · 5 rounds · Comparaison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30175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017520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0175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30540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Résultats &amp; Conclusion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34015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Synthèse, performance, perspectives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Objectifs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A1628"/>
                </a:solidFill>
              </a:rPr>
              <a:t>📋 Consigne : Construire des modèles ML pour prédire la qualité de l'air (PM2.5 / AQI) dans les villes marocaines à partir de données réelles collectées via API.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651760" cy="2468880"/>
          </a:xfrm>
          <a:prstGeom prst="rect">
            <a:avLst/>
          </a:prstGeom>
          <a:solidFill>
            <a:srgbClr val="F1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65960"/>
            <a:ext cx="265176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65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 Collecter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Données météo et qualité de l'air via OpenWeatherMap API pour ≥3 villes marocaines sur plusieurs jours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965960"/>
            <a:ext cx="2651760" cy="2468880"/>
          </a:xfrm>
          <a:prstGeom prst="rect">
            <a:avLst/>
          </a:prstGeom>
          <a:solidFill>
            <a:srgbClr val="F1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965960"/>
            <a:ext cx="265176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65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 Modéliser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6517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Entraîner ≥2 modèles ML (régression PM2.5 + classification AQI) et les évaluer avec MAE, RMSE, R², F1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2651760" cy="2468880"/>
          </a:xfrm>
          <a:prstGeom prst="rect">
            <a:avLst/>
          </a:prstGeom>
          <a:solidFill>
            <a:srgbClr val="F1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965960"/>
            <a:ext cx="265176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965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🔒  Fédérer (BONUS)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6517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Simuler l'apprentissage fédéré avec FedAvg, chaque ville = client, comparer avec modèle centralisé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Outils &amp; Bibliothèques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93776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1C9AB5">
              <a:alpha val="80000"/>
            </a:srgbClr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37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Python 3.11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10512" y="493776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1C9AB5">
              <a:alpha val="80000"/>
            </a:srgbClr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4937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pandas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493776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1C9AB5">
              <a:alpha val="80000"/>
            </a:srgbClr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4937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0016" y="493776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1C9AB5">
              <a:alpha val="80000"/>
            </a:srgbClr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4937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matplotlib / seaborn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44768" y="493776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1C9AB5">
              <a:alpha val="80000"/>
            </a:srgbClr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4937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OpenWeatherMap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89520" y="493776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1C9AB5">
              <a:alpha val="80000"/>
            </a:srgbClr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4937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joblib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· Collecte des Données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996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Enregistrements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109728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50592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Villes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09728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14 jours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26864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Durée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109728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98.8%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03136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Taux collecte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Flux de collecte (collector.py)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752344"/>
            <a:ext cx="201168" cy="201168"/>
          </a:xfrm>
          <a:prstGeom prst="ellipse">
            <a:avLst/>
          </a:prstGeom>
          <a:solidFill>
            <a:srgbClr val="1C9AB5"/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974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① config.py : clé API, 6 villes, intervalle 1h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136392"/>
            <a:ext cx="201168" cy="201168"/>
          </a:xfrm>
          <a:prstGeom prst="ellipse">
            <a:avLst/>
          </a:prstGeom>
          <a:solidFill>
            <a:srgbClr val="1C9AB5"/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815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② AirQualityCollector : gestion reprise auto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201168" cy="201168"/>
          </a:xfrm>
          <a:prstGeom prst="ellipse">
            <a:avLst/>
          </a:prstGeom>
          <a:solidFill>
            <a:srgbClr val="1C9AB5"/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655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③ fetch_city_data() : requêtes météo + air quality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904488"/>
            <a:ext cx="201168" cy="201168"/>
          </a:xfrm>
          <a:prstGeom prst="ellipse">
            <a:avLst/>
          </a:prstGeom>
          <a:solidFill>
            <a:srgbClr val="1C9AB5"/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496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④ Checkpoint JSON : progression sauvegardée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288536"/>
            <a:ext cx="201168" cy="201168"/>
          </a:xfrm>
          <a:prstGeom prst="ellipse">
            <a:avLst/>
          </a:prstGeom>
          <a:solidFill>
            <a:srgbClr val="1C9AB5"/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33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⑤ 33 fichiers CSV bruts → air_quality_latest.csv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672584"/>
            <a:ext cx="201168" cy="201168"/>
          </a:xfrm>
          <a:prstGeom prst="ellipse">
            <a:avLst/>
          </a:prstGeom>
          <a:solidFill>
            <a:srgbClr val="1C9AB5"/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17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⑥ 15 fichiers logs (25 avril → 9 mai 2026)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Variables collectées (21 colonnes)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2697480"/>
            <a:ext cx="9144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697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Météo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06440" y="2697480"/>
            <a:ext cx="3017520" cy="502920"/>
          </a:xfrm>
          <a:prstGeom prst="rect">
            <a:avLst/>
          </a:prstGeom>
          <a:solidFill>
            <a:srgbClr val="F1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743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temp, feels_like, humidity, pressure, wind_speed, wind_deg, clouds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355848"/>
            <a:ext cx="9144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3558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 Quality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06440" y="3355848"/>
            <a:ext cx="3017520" cy="502920"/>
          </a:xfrm>
          <a:prstGeom prst="rect">
            <a:avLst/>
          </a:prstGeom>
          <a:solidFill>
            <a:srgbClr val="F1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34015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PM2.5, PM10, NO₂, O₃, SO₂, CO, AQI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4014216"/>
            <a:ext cx="9144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01421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Temporel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06440" y="4014216"/>
            <a:ext cx="3017520" cy="502920"/>
          </a:xfrm>
          <a:prstGeom prst="rect">
            <a:avLst/>
          </a:prstGeom>
          <a:solidFill>
            <a:srgbClr val="F1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405993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timestamp, hour, day_of_week, month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4672584"/>
            <a:ext cx="914400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67258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Localisation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06440" y="4672584"/>
            <a:ext cx="3017520" cy="502920"/>
          </a:xfrm>
          <a:prstGeom prst="rect">
            <a:avLst/>
          </a:prstGeom>
          <a:solidFill>
            <a:srgbClr val="F1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471830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city, lat, lon, city_encoded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46320" y="4572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6 Villes marocaines :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4892040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48920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Casablanca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90488" y="4892040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0488" y="48920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Rabat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34656" y="4892040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34656" y="48920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Marrakech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46320" y="5184648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518464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Fès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90488" y="5184648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0488" y="518464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Tanger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534656" y="5184648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1C9A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34656" y="518464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Agadir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· Code – collector.py &amp; config.py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config.py – Configuration centralisée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206240" cy="3017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"3fdb5f73..."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"Casablanca"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{lat: 33.57, lon: -7.59}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"Rabat"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{lat: 34.02, lon: -6.84}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"Marrakech"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...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+ Fès, Tanger, Agadir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INTERVAL_SECONDS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3600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heure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MAX_REQUESTS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168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 jours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MAX_RETRIES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collector.py – fetch_city_data()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14800" cy="3017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fetch_city_data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city, lat, lon):
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weather_url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
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"api.openweathermap.org/"
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f"weather?lat={lat}&amp;lon={lon}"
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f"&amp;appid={self.api_key}&amp;units=metric"
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Requêtes météo + air pollution
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weather_resp = requests.get(weather_url)
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air_resp = requests.get(air_url)
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Construire l'enregistrement
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 = {
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"pm2_5"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air_data[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][0][...],
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"temp"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weather_data[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"main"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solidFill>
            <a:srgbClr val="F1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A82"/>
                </a:solidFill>
              </a:rPr>
              <a:t>✔  Gestion reprise automatique via checkpoint JSON   ·   ✔  Rate limiting 2s entre requêtes   ·   ✔  3 tentatives (retry) par ville   ·   ✔  Logs quotidiens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 · Préparation des Données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128016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D8EA"/>
                </a:solidFill>
              </a:rPr>
              <a:t>Chargement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6032" y="18013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996 lignes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21 colonnes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36192" y="1417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B5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19072" y="1051560"/>
            <a:ext cx="128016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19072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19072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D8EA"/>
                </a:solidFill>
              </a:rPr>
              <a:t>Nettoyage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19072" y="18013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0 doublons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0 NaN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99232" y="1417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B5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82112" y="1051560"/>
            <a:ext cx="128016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82112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82112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D8EA"/>
                </a:solidFill>
              </a:rPr>
              <a:t>Features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8D8EA"/>
                </a:solidFill>
              </a:rPr>
              <a:t>Temporelles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82112" y="18013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hour, day_of_week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day_of_month, month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62272" y="1417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B5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45152" y="1051560"/>
            <a:ext cx="128016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45152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45152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D8EA"/>
                </a:solidFill>
              </a:rPr>
              <a:t>Encodage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45152" y="18013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LabelEncoder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6 villes → 0-5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25312" y="1417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B5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08192" y="1051560"/>
            <a:ext cx="128016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08192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08192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D8EA"/>
                </a:solidFill>
              </a:rPr>
              <a:t>Normalisation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08192" y="18013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StandardScaler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9 features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88352" y="1417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B5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71232" y="1051560"/>
            <a:ext cx="128016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71232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71232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D8EA"/>
                </a:solidFill>
              </a:rPr>
              <a:t>Sauvegarde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571232" y="18013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clean.csv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scaled.csv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2468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12 Features sélectionnées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2834640"/>
            <a:ext cx="11887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Météo (4)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00200" y="2834640"/>
            <a:ext cx="2743200" cy="411480"/>
          </a:xfrm>
          <a:prstGeom prst="rect">
            <a:avLst/>
          </a:prstGeom>
          <a:solidFill>
            <a:srgbClr val="F1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1640" y="2880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temp · humidity · pressure · wind_speed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3355848"/>
            <a:ext cx="11887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558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Polluants (5)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00200" y="3355848"/>
            <a:ext cx="2743200" cy="411480"/>
          </a:xfrm>
          <a:prstGeom prst="rect">
            <a:avLst/>
          </a:prstGeom>
          <a:solidFill>
            <a:srgbClr val="F1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91640" y="3401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pm10 · no2 · o3 · so2 · co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3877056"/>
            <a:ext cx="11887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8770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Temps (2)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600200" y="3877056"/>
            <a:ext cx="2743200" cy="411480"/>
          </a:xfrm>
          <a:prstGeom prst="rect">
            <a:avLst/>
          </a:prstGeom>
          <a:solidFill>
            <a:srgbClr val="F1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91640" y="39227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hour · day_of_week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398264"/>
            <a:ext cx="1188720" cy="4114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3982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Ville (1)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600200" y="4398264"/>
            <a:ext cx="2743200" cy="411480"/>
          </a:xfrm>
          <a:prstGeom prst="rect">
            <a:avLst/>
          </a:prstGeom>
          <a:solidFill>
            <a:srgbClr val="F1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91640" y="44439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city_encoded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54880" y="2468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Distribution AQI (Classes)</a:t>
            </a:r>
            <a:endParaRPr lang="en-US" sz="1300" dirty="0"/>
          </a:p>
        </p:txBody>
      </p:sp>
      <p:graphicFrame>
        <p:nvGraphicFramePr>
          <p:cNvPr id="51" name="Chart 0" descr=""/>
          <p:cNvGraphicFramePr/>
          <p:nvPr/>
        </p:nvGraphicFramePr>
        <p:xfrm>
          <a:off x="4572000" y="2743200"/>
          <a:ext cx="4389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2" name="Shape 49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⚠  Classe 1 (Bon) sous-représentée : seulement 4% → Split stratifié utilisé (stratify=y_clf)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· Modèles ML – Régression (Prédiction PM2.5)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Extrait model_building.py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'humidity'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..., </a:t>
            </a:r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'co'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80/20
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train_test_split(X, y, test_size=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Entraînement des modèles
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 = LinearRegression().fit(X_train, y_train)
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 = RandomForestRegressor(n_estimators=</a:t>
            </a:r>
            <a:pPr indent="0" marL="0">
              <a:buNone/>
            </a:pPr>
            <a:r>
              <a:rPr lang="en-US" sz="9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).fit(...)
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  = DecisionTreeRegressor(max_depth=</a:t>
            </a:r>
            <a:pPr indent="0" marL="0">
              <a:buNone/>
            </a:pPr>
            <a:r>
              <a:rPr lang="en-US" sz="9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).fit(...)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005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Résultats de performance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25880"/>
          <a:ext cx="4297680" cy="146304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MAE (µg/m³)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Linear Regression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0.902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0.790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Decision Tree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0.539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0.876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0.893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🏆 Random Forest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0.364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0.569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0.955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4572000" y="2880360"/>
          <a:ext cx="42976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3703320"/>
            <a:ext cx="4023360" cy="132588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Meilleur modèle : Random Forest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4114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→ R² = 0.955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(standard académique : 0.70–0.85)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MAE = 0.364 µg/m³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RMSE = 0.569 µg/m³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Modèles ML – Classification (Prédiction AQI)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Extrait – Random Forest Classifier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stratifié
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X_train_c, X_test_c, y_train_c, y_test_c =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train_test_split(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y_clf, test_size=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stratify=y_clf
  )
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rf_clf = RandomForestClassifier(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n_estimators=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random_state=</a:t>
            </a:r>
            <a:pPr indent="0" marL="0">
              <a:buNone/>
            </a:pPr>
            <a:r>
              <a:rPr lang="en-US" sz="9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
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rf_clf.fit(X_train_c, y_train_c)
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accuracy_score(y_test_c, y_pred_c)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0.995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005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Résultats – Classification Report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25880"/>
          <a:ext cx="4297680" cy="164592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22960"/>
                <a:gridCol w="64008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 (Bon)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(Moyen)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 (Dégradé)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✅ 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99.5%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 = 0.995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4572000" y="3108960"/>
          <a:ext cx="42976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3337560"/>
            <a:ext cx="11887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6576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99.5%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6576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EA"/>
                </a:solidFill>
              </a:rPr>
              <a:t>Accuracy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65760" y="4251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199/200 correctes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709928" y="3337560"/>
            <a:ext cx="11887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709928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0.995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09928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EA"/>
                </a:solidFill>
              </a:rPr>
              <a:t>F1-Score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709928" y="4251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weighted average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054096" y="3337560"/>
            <a:ext cx="11887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054096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 seule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054096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EA"/>
                </a:solidFill>
              </a:rPr>
              <a:t>Erreur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054096" y="4251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classe 1 (Bon)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65760" y="4892040"/>
            <a:ext cx="4023360" cy="256032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4892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⚠  Classe 1 sous-représentée (4%) → SMOTE disponible mais non appliqué (résultats déjà parfaits)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06 · Apprentissage Fédéré – Concept &amp; Implémentation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Architecture FedAvg simulée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560320" cy="6400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🌐 Serveur Global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LinearRegression (FedAvg)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2468880"/>
            <a:ext cx="13258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2468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🏙 Casablanca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~166 échantillons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480560" y="2011680"/>
            <a:ext cx="-3657600" cy="457200"/>
          </a:xfrm>
          <a:prstGeom prst="line">
            <a:avLst/>
          </a:prstGeom>
          <a:noFill/>
          <a:ln w="12700">
            <a:solidFill>
              <a:srgbClr val="1C9AB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645920" y="2468880"/>
            <a:ext cx="13258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0" y="2468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🏙 Rabat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~166 échantillons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80560" y="2011680"/>
            <a:ext cx="-2194560" cy="457200"/>
          </a:xfrm>
          <a:prstGeom prst="line">
            <a:avLst/>
          </a:prstGeom>
          <a:noFill/>
          <a:ln w="12700">
            <a:solidFill>
              <a:srgbClr val="1C9AB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108960" y="2468880"/>
            <a:ext cx="13258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08960" y="2468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🏙 Marrakech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~166 échantillons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80560" y="2011680"/>
            <a:ext cx="-731520" cy="457200"/>
          </a:xfrm>
          <a:prstGeom prst="line">
            <a:avLst/>
          </a:prstGeom>
          <a:noFill/>
          <a:ln w="12700">
            <a:solidFill>
              <a:srgbClr val="1C9AB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0" y="2468880"/>
            <a:ext cx="13258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2468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🏙 Fès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~166 échantillons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80560" y="2011680"/>
            <a:ext cx="731520" cy="457200"/>
          </a:xfrm>
          <a:prstGeom prst="line">
            <a:avLst/>
          </a:prstGeom>
          <a:noFill/>
          <a:ln w="12700">
            <a:solidFill>
              <a:srgbClr val="1C9AB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035040" y="2468880"/>
            <a:ext cx="13258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2468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🏙 Tanger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~166 échantillons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80560" y="2011680"/>
            <a:ext cx="2194560" cy="457200"/>
          </a:xfrm>
          <a:prstGeom prst="line">
            <a:avLst/>
          </a:prstGeom>
          <a:noFill/>
          <a:ln w="12700">
            <a:solidFill>
              <a:srgbClr val="1C9AB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498080" y="2468880"/>
            <a:ext cx="13258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0" y="2468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🏙 Agadir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~166 échantillons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80560" y="2011680"/>
            <a:ext cx="3657600" cy="457200"/>
          </a:xfrm>
          <a:prstGeom prst="line">
            <a:avLst/>
          </a:prstGeom>
          <a:noFill/>
          <a:ln w="12700">
            <a:solidFill>
              <a:srgbClr val="1C9AB5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65760" y="3200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① Envoi modèle global  ② Entraînement local  ③ Retour paramètres  ④ Agrégation pondérée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federated_learning.py – FedAvg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886200"/>
            <a:ext cx="484632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3192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federated_averaging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(client_coefs, client_intercepts, client_sizes):
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total_samples =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(client_sizes)
    avg_coef = np.zeros(len(client_coefs[0]))
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coef, intercept, size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zip(...):
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weight = size / total_samples
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avg_coef += coef * weight  </a:t>
            </a:r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Moyenne pondérée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9496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1D95"/>
                </a:solidFill>
              </a:rPr>
              <a:t>Résultats comparaison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3886200"/>
          <a:ext cx="3474720" cy="118872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82296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RF Centralisé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0.364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LR Centralisé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LR Fédéré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0.497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1.422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C9AB5">
              <a:alpha val="20000"/>
            </a:srgbClr>
          </a:solidFill>
          <a:ln w="12700">
            <a:solidFill>
              <a:srgbClr val="1C9AB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07 · Résultats &amp; 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118872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1C9AB5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0.955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9AB5"/>
                </a:solidFill>
              </a:rPr>
              <a:t>R² Random Forest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B8D0"/>
                </a:solidFill>
              </a:rPr>
              <a:t>vs. 0.70-0.85 attendu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20240" cy="118872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1C9AB5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99.5%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1460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9AB5"/>
                </a:solidFill>
              </a:rPr>
              <a:t>Accuracy AQI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1460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B8D0"/>
                </a:solidFill>
              </a:rPr>
              <a:t>199/200 prédictions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118872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1C9AB5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0.497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9AB5"/>
                </a:solidFill>
              </a:rPr>
              <a:t>R² Fédéré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B8D0"/>
                </a:solidFill>
              </a:rPr>
              <a:t>trade-off confid./perf.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1920240" cy="118872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1C9AB5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1228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9AB5"/>
                </a:solidFill>
              </a:rPr>
              <a:t>Conformité PDF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1228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B8D0"/>
                </a:solidFill>
              </a:rPr>
              <a:t>+ Bonus réalisé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9AB5"/>
                </a:solidFill>
              </a:rPr>
              <a:t>Points forts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788920"/>
            <a:ext cx="38404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✅ 6 villes au lieu de 3 (min. requis)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✅ 996 enregistrements sur 14 jours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✅ R² = 0.955 (exceptionnel)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✅ Classification 99.5% précision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✅ Bonus FedAvg complet (5 rounds)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✅ Code reproductible, 4 scripts
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Limites &amp; Perspectives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788920"/>
            <a:ext cx="4023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⚠ Classe 1 (Bon) sous-représentée (4%)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⚠ Source unique : OpenWeatherMap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⚠ Données limitées à la saison printanière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🔮 Modèles fédérés avancés : FedProx, Scaffold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🔮 Intégration de capteurs IoT réels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🔮 Déploiement via API ou dashboard
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5A82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Merci pour votre attention  ·  Amanda  ·  Master BDSI – FSDM Fès  ·  Supervisé par Pr. H. Satori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Quality Prediction in Moroccan Cities</dc:title>
  <dc:subject>PptxGenJS Presentation</dc:subject>
  <dc:creator>Amanda</dc:creator>
  <cp:lastModifiedBy>Amanda</cp:lastModifiedBy>
  <cp:revision>1</cp:revision>
  <dcterms:created xsi:type="dcterms:W3CDTF">2026-05-25T16:31:03Z</dcterms:created>
  <dcterms:modified xsi:type="dcterms:W3CDTF">2026-05-25T16:31:03Z</dcterms:modified>
</cp:coreProperties>
</file>